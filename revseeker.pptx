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ahnschrift" panose="020B0502040204020203" pitchFamily="34" charset="0"/>
      <p:regular r:id="rId13"/>
      <p:bold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8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528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Revseeker — полностью локальный инструмент без сторонней серверной инфраструктуры, обеспечивающий приватность и прямой доступ к P2P-сети.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Проблема: отсутствие прямых ссылок в VK и разрыв между веб-плейлистами и распределённой P2P-сетью Soulseek. Revseeker выступает связующим мостом.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Вся архитектура распределена на три слоя: сбор метаданных на клиенте (расширение), оркестрация (FastAPI) и сетевое взаимодействие с P2P (Sockseek CLI).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Двухпанельная компоновка: левая часть отвечает за ввод и аудит задач, правая обеспечивает наглядность структуры пиров и файлов Soulseek.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Первичная конфигурация Soulseek выполняется локально, сохраняя абсолютную автономность и безопасность пользовательских ключей.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Фильтрация исключает некачественные рипы и ложные совпадения за счёт двухэтапной верификации битрейта и хронометража.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Нормализация имён и метаданных гарантирует однородность аудиотеки вне зависимости от того, как файлы были размечены исходным сидом.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Интерфейс предоставляет детальный телеметрический срез: лог задач, учёт продуктивных сидов и живой мониторинг P2P-сессии.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Архитектурные рамки: фокус исключительно на VK, учёт специфики децентрализованных пиров и внешние требования к сетевой связности.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Ключевые принципы невмешательства: нулевое хранение данных вне хоста, отсутствие сторонних авторизаций, фокус на файлах и честное соблюдение сетевых ограничений.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Soulseek triggered too many memories. : r/Soulseek">
            <a:extLst>
              <a:ext uri="{FF2B5EF4-FFF2-40B4-BE49-F238E27FC236}">
                <a16:creationId xmlns:a16="http://schemas.microsoft.com/office/drawing/2014/main" id="{646F724D-7F55-D576-5BC1-66E8C2814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5164" y="0"/>
            <a:ext cx="384808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20 Cd Lot - Nine Inch Nails Trent Reznor NIN Rob Halford Two Industrial OOP  Item | #1821131899">
            <a:extLst>
              <a:ext uri="{FF2B5EF4-FFF2-40B4-BE49-F238E27FC236}">
                <a16:creationId xmlns:a16="http://schemas.microsoft.com/office/drawing/2014/main" id="{E4FA6C1B-CD94-7012-07AA-C89A5D0E6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525164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/>
          <p:nvPr/>
        </p:nvSpPr>
        <p:spPr>
          <a:xfrm>
            <a:off x="761981" y="1016000"/>
            <a:ext cx="863578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176" dirty="0">
                <a:solidFill>
                  <a:srgbClr val="FFFFFF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АРХИТЕКТУРА И ПРИНЦИПЫ РАБОТЫ</a:t>
            </a:r>
            <a:endParaRPr lang="en-US" sz="1100" dirty="0">
              <a:latin typeface="Bahnschrif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1981" y="1462980"/>
            <a:ext cx="150710" cy="38100"/>
          </a:xfrm>
          <a:prstGeom prst="roundRect">
            <a:avLst>
              <a:gd name="adj" fmla="val 49999"/>
            </a:avLst>
          </a:prstGeom>
          <a:solidFill>
            <a:srgbClr val="F25F33"/>
          </a:solidFill>
          <a:ln/>
        </p:spPr>
      </p:sp>
      <p:sp>
        <p:nvSpPr>
          <p:cNvPr id="4" name="Text 2"/>
          <p:cNvSpPr/>
          <p:nvPr/>
        </p:nvSpPr>
        <p:spPr>
          <a:xfrm>
            <a:off x="761981" y="1986855"/>
            <a:ext cx="8026199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kern="100" spc="352" dirty="0">
                <a:solidFill>
                  <a:srgbClr val="FFFFFF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ЧТО ЭТО</a:t>
            </a:r>
            <a:endParaRPr lang="en-US" sz="4400" dirty="0">
              <a:latin typeface="Bahnschrif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1981" y="2810768"/>
            <a:ext cx="8026199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Revseeker — локальное веб-приложение для скачивания музыки из плейлистов ВКонтакте через сеть Soulseek.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1981" y="3702149"/>
            <a:ext cx="802619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Работает на собственном компьютере пользователя. Никаких внешних серверов, никаких облачных сервисов. Все данные — учётные данные Soulseek, история загрузок, файлы — остаются на машине.</a:t>
            </a:r>
            <a:endParaRPr lang="en-US" sz="1600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35464" y="457200"/>
            <a:ext cx="6197445" cy="52447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28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Задача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435464" y="1235670"/>
            <a:ext cx="6197445" cy="47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У пользователя ВКонтакте есть плейлисты: сохранённая музыка, альбомы, подборки. Обычные способы скачивания неудобны или не дают нужного качества.</a:t>
            </a:r>
            <a:endParaRPr lang="en-US" sz="1600" dirty="0">
              <a:latin typeface="Bahnschrift" panose="020B0502040204020203" pitchFamily="34" charset="0"/>
            </a:endParaRPr>
          </a:p>
          <a:p>
            <a:pPr marL="0" indent="0" algn="l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Прямые ссылки на файлы ВКонтакте больше не выдаёт — сервис отдаёт потоковое аудио через m3u8, а не mp3. Скачать альбом целиком в исходном качестве штатными средствами нельзя.</a:t>
            </a:r>
            <a:endParaRPr lang="en-US" sz="1600" dirty="0">
              <a:latin typeface="Bahnschrift" panose="020B0502040204020203" pitchFamily="34" charset="0"/>
            </a:endParaRPr>
          </a:p>
          <a:p>
            <a:pPr marL="0" indent="0" algn="l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Soulseek — это peer-to-peer сеть, где пользователи обмениваются музыкальными файлами напрямую. Там есть FLAC и mp3 в 320 kbps, часто целыми альбомами от одного человека. Но у неё нет удобного способа получить список треков из плейлиста ВКонтакте.</a:t>
            </a:r>
            <a:endParaRPr lang="en-US" sz="1600" dirty="0">
              <a:latin typeface="Bahnschrift" panose="020B0502040204020203" pitchFamily="34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Revseeker соединяет эти две вещи: берёт треклист из ВКонтакте и автоматически ищет и скачивает каждую композицию в сети Soulseek.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864777" y="6461125"/>
            <a:ext cx="32691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pic>
        <p:nvPicPr>
          <p:cNvPr id="2050" name="Picture 2" descr="Soulseek - Wikipedia">
            <a:extLst>
              <a:ext uri="{FF2B5EF4-FFF2-40B4-BE49-F238E27FC236}">
                <a16:creationId xmlns:a16="http://schemas.microsoft.com/office/drawing/2014/main" id="{C56930C6-F9A2-7B2A-737D-03D4A8D0B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400" y="1468585"/>
            <a:ext cx="4257675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B977B5-9D0E-8CCC-B531-6AB3CD0F4E90}"/>
              </a:ext>
            </a:extLst>
          </p:cNvPr>
          <p:cNvSpPr/>
          <p:nvPr/>
        </p:nvSpPr>
        <p:spPr>
          <a:xfrm>
            <a:off x="10963259" y="6310745"/>
            <a:ext cx="1154850" cy="484909"/>
          </a:xfrm>
          <a:prstGeom prst="rect">
            <a:avLst/>
          </a:prstGeom>
          <a:solidFill>
            <a:srgbClr val="16181C"/>
          </a:solidFill>
          <a:ln>
            <a:solidFill>
              <a:srgbClr val="1618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074123" cy="52447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28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Как это работает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8786" y="1235670"/>
            <a:ext cx="1163290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Схема из трёх компонентов.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8786" y="1758851"/>
            <a:ext cx="8420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58786" y="2043311"/>
            <a:ext cx="3386450" cy="19050"/>
          </a:xfrm>
          <a:prstGeom prst="rect">
            <a:avLst/>
          </a:prstGeom>
          <a:solidFill>
            <a:srgbClr val="F25F33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2184202"/>
            <a:ext cx="33865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Браузерное расширение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58786" y="2673152"/>
            <a:ext cx="3386549" cy="2945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Пользователь открывает плейлист ВКонтакте, нажимает кнопку расширения. Расширение читает треклист напрямую со страницы и передаёт его в веб-приложение. Это единственный способ получить данные из ВКонтакте без токенов и регистрации сторонних приложений.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02523" y="1758851"/>
            <a:ext cx="8420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02523" y="2043311"/>
            <a:ext cx="3386450" cy="19050"/>
          </a:xfrm>
          <a:prstGeom prst="rect">
            <a:avLst/>
          </a:prstGeom>
          <a:solidFill>
            <a:srgbClr val="F25F33"/>
          </a:solidFill>
          <a:ln/>
        </p:spPr>
      </p:sp>
      <p:sp>
        <p:nvSpPr>
          <p:cNvPr id="10" name="Text 8"/>
          <p:cNvSpPr/>
          <p:nvPr/>
        </p:nvSpPr>
        <p:spPr>
          <a:xfrm>
            <a:off x="4402523" y="2184202"/>
            <a:ext cx="338654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Веб-приложение на FastAPI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02523" y="2977952"/>
            <a:ext cx="3386549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Принимает треклист, показывает его пользователю, запускает задачи поиска и скачивания, ведёт журнал. Работает как локальный сервер на порту 8000.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46261" y="1758851"/>
            <a:ext cx="8420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46261" y="2043311"/>
            <a:ext cx="3386549" cy="19050"/>
          </a:xfrm>
          <a:prstGeom prst="rect">
            <a:avLst/>
          </a:prstGeom>
          <a:solidFill>
            <a:srgbClr val="F25F33"/>
          </a:solidFill>
          <a:ln/>
        </p:spPr>
      </p:sp>
      <p:sp>
        <p:nvSpPr>
          <p:cNvPr id="14" name="Text 12"/>
          <p:cNvSpPr/>
          <p:nvPr/>
        </p:nvSpPr>
        <p:spPr>
          <a:xfrm>
            <a:off x="8246261" y="2184202"/>
            <a:ext cx="33866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Sockseek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46261" y="2673152"/>
            <a:ext cx="3386648" cy="206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Отдельная утилита командной строки, которая работает с сетью Soulseek. Веб-приложение запускает её как подпроцесс, передаёт список треков и читает её вывод для отображения прогресса.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864777" y="6461125"/>
            <a:ext cx="32691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7BD22D1-5F48-E789-34B6-865226F0EFDC}"/>
              </a:ext>
            </a:extLst>
          </p:cNvPr>
          <p:cNvSpPr/>
          <p:nvPr/>
        </p:nvSpPr>
        <p:spPr>
          <a:xfrm>
            <a:off x="10963259" y="6310745"/>
            <a:ext cx="1154850" cy="484909"/>
          </a:xfrm>
          <a:prstGeom prst="rect">
            <a:avLst/>
          </a:prstGeom>
          <a:solidFill>
            <a:srgbClr val="16181C"/>
          </a:solidFill>
          <a:ln>
            <a:solidFill>
              <a:srgbClr val="1618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074123" cy="52447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28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Что видит пользователь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8786" y="1235670"/>
            <a:ext cx="1163290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Одностраничный интерфейс из двух колонок.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8786" y="1962051"/>
            <a:ext cx="5537061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110" dirty="0">
                <a:solidFill>
                  <a:srgbClr val="6AC5B1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ЛЕВАЯ ПАНЕЛЬ · УПРАВЛЕНИЕ И ЛОГИ</a:t>
            </a:r>
            <a:endParaRPr lang="en-US" sz="1100" dirty="0">
              <a:latin typeface="Bahnschrift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58786" y="2329656"/>
            <a:ext cx="150710" cy="38100"/>
          </a:xfrm>
          <a:prstGeom prst="roundRect">
            <a:avLst>
              <a:gd name="adj" fmla="val 49999"/>
            </a:avLst>
          </a:prstGeom>
          <a:solidFill>
            <a:srgbClr val="F25F33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2567781"/>
            <a:ext cx="5232269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Слева — поле для ссылки на плейлист или названия альбома, поле для списка треков, кнопки запуска, панель логов, список сидов, с которых скачались файлы.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640" y="1962051"/>
            <a:ext cx="523226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110" dirty="0">
                <a:solidFill>
                  <a:srgbClr val="6AC5B1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ПРАВАЯ ПАНЕЛЬ · SOULSEEK И СТАТУС СЕТИ</a:t>
            </a:r>
            <a:endParaRPr lang="en-US" sz="1100" dirty="0">
              <a:latin typeface="Bahnschrift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640" y="2329656"/>
            <a:ext cx="150710" cy="38100"/>
          </a:xfrm>
          <a:prstGeom prst="roundRect">
            <a:avLst>
              <a:gd name="adj" fmla="val 49999"/>
            </a:avLst>
          </a:prstGeom>
          <a:solidFill>
            <a:srgbClr val="F25F33"/>
          </a:solidFill>
          <a:ln/>
        </p:spPr>
      </p:sp>
      <p:sp>
        <p:nvSpPr>
          <p:cNvPr id="9" name="Text 7"/>
          <p:cNvSpPr/>
          <p:nvPr/>
        </p:nvSpPr>
        <p:spPr>
          <a:xfrm>
            <a:off x="6400640" y="2567781"/>
            <a:ext cx="5232269" cy="250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1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Справа — окно, стилизованное под браузер папок Soulseek. Показывает, какие файлы и от каких пользователей были найдены и скачаны. Это визуальная отсылка к обычному клиенту Soulseek, чтобы у пользователя было понимание, что происходит в сети.</a:t>
            </a:r>
            <a:endParaRPr lang="en-US" sz="1600" dirty="0">
              <a:latin typeface="Bahnschrift" panose="020B0502040204020203" pitchFamily="34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Также в правой колонке — короткий текст с ожиданиями от сети: чего в Soulseek нет и почему.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89498" y="1758851"/>
            <a:ext cx="12700" cy="4591149"/>
          </a:xfrm>
          <a:prstGeom prst="rect">
            <a:avLst/>
          </a:prstGeom>
          <a:solidFill>
            <a:srgbClr val="3A414A"/>
          </a:solidFill>
          <a:ln/>
        </p:spPr>
      </p:sp>
      <p:sp>
        <p:nvSpPr>
          <p:cNvPr id="11" name="Text 9"/>
          <p:cNvSpPr/>
          <p:nvPr/>
        </p:nvSpPr>
        <p:spPr>
          <a:xfrm>
            <a:off x="11864777" y="6461125"/>
            <a:ext cx="32691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C448C0-A060-99F7-025B-9C7829CE82B4}"/>
              </a:ext>
            </a:extLst>
          </p:cNvPr>
          <p:cNvSpPr/>
          <p:nvPr/>
        </p:nvSpPr>
        <p:spPr>
          <a:xfrm>
            <a:off x="10963259" y="6310745"/>
            <a:ext cx="1154850" cy="484909"/>
          </a:xfrm>
          <a:prstGeom prst="rect">
            <a:avLst/>
          </a:prstGeom>
          <a:solidFill>
            <a:srgbClr val="16181C"/>
          </a:solidFill>
          <a:ln>
            <a:solidFill>
              <a:srgbClr val="1618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637" y="457200"/>
            <a:ext cx="6197445" cy="52447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28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Первый запуск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31637" y="1235670"/>
            <a:ext cx="6197445" cy="2519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Приложение требует настройки при первом запуске.</a:t>
            </a:r>
            <a:endParaRPr lang="en-US" sz="1600" dirty="0">
              <a:latin typeface="Bahnschrift" panose="020B0502040204020203" pitchFamily="34" charset="0"/>
            </a:endParaRPr>
          </a:p>
          <a:p>
            <a:pPr marL="0" indent="0" algn="l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Пользователь заполняет учётные данные Soulseek — логин и пароль. Приложение сохраняет их в локальный конфигурационный файл рядом с собой. Ничего не отправляется наружу.</a:t>
            </a:r>
            <a:endParaRPr lang="en-US" sz="1600" dirty="0">
              <a:latin typeface="Bahnschrift" panose="020B0502040204020203" pitchFamily="34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На странице настройки также объясняется, что такое Soulseek, и даётся ссылка на регистрацию аккаунта.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1637" y="5156363"/>
            <a:ext cx="6197445" cy="1238746"/>
          </a:xfrm>
          <a:prstGeom prst="rect">
            <a:avLst/>
          </a:prstGeom>
          <a:solidFill>
            <a:srgbClr val="22262C"/>
          </a:solidFill>
          <a:ln/>
        </p:spPr>
      </p:sp>
      <p:sp>
        <p:nvSpPr>
          <p:cNvPr id="5" name="Text 3"/>
          <p:cNvSpPr/>
          <p:nvPr/>
        </p:nvSpPr>
        <p:spPr>
          <a:xfrm>
            <a:off x="685631" y="5359563"/>
            <a:ext cx="5943451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11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КОНФИГУРАЦИЯ</a:t>
            </a:r>
            <a:endParaRPr lang="en-US" sz="1100" dirty="0">
              <a:latin typeface="Bahnschrif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631" y="5676368"/>
            <a:ext cx="568945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Локальный файл конфигурации хранится изолированно в каталоге приложения без удалённой синхронизации.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864777" y="6461125"/>
            <a:ext cx="32691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pic>
        <p:nvPicPr>
          <p:cNvPr id="1026" name="Picture 2" descr="Average Soulseek enjoyer : r/Soulseek">
            <a:extLst>
              <a:ext uri="{FF2B5EF4-FFF2-40B4-BE49-F238E27FC236}">
                <a16:creationId xmlns:a16="http://schemas.microsoft.com/office/drawing/2014/main" id="{6AA04420-351B-FBA6-3097-9C4B4E1DF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926" y="0"/>
            <a:ext cx="543576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074123" cy="52447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28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Качество и соответствие треков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8786" y="1235670"/>
            <a:ext cx="1163290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Два механизма защиты от подмены.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58786" y="1758851"/>
            <a:ext cx="5384665" cy="4591149"/>
          </a:xfrm>
          <a:prstGeom prst="roundRect">
            <a:avLst>
              <a:gd name="adj" fmla="val 249"/>
            </a:avLst>
          </a:prstGeom>
          <a:noFill/>
          <a:ln w="25399">
            <a:solidFill>
              <a:srgbClr val="4E505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0" y="2012851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0" y="2568476"/>
            <a:ext cx="48766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Фильтр по качеству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12780" y="3057426"/>
            <a:ext cx="4876678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Пользователь выбирает формат и минимальный битрейт. Приложение не примет mp3 ниже указанного порога и предпочтёт FLAC, если он есть.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248244" y="1758851"/>
            <a:ext cx="5384665" cy="4591149"/>
          </a:xfrm>
          <a:prstGeom prst="roundRect">
            <a:avLst>
              <a:gd name="adj" fmla="val 249"/>
            </a:avLst>
          </a:prstGeom>
          <a:noFill/>
          <a:ln w="25399">
            <a:solidFill>
              <a:srgbClr val="4E505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237" y="2012851"/>
            <a:ext cx="40639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2237" y="2568476"/>
            <a:ext cx="48766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Сопоставление по длительности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502237" y="3057426"/>
            <a:ext cx="4876678" cy="206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У каждого трека ВКонтакте есть продолжительность в секундах. Расширение передаёт её вместе с названием. Sockseek сверяет длину найденного файла с ожидаемой с точностью до нескольких секунд. Это отсекает живые версии, ремиксы, радиоредакции и просто чужие треки с похожим названием.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1864777" y="6461125"/>
            <a:ext cx="32691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7A7AE9C-C5FD-140F-49F4-793B1BC0882E}"/>
              </a:ext>
            </a:extLst>
          </p:cNvPr>
          <p:cNvSpPr/>
          <p:nvPr/>
        </p:nvSpPr>
        <p:spPr>
          <a:xfrm>
            <a:off x="10963259" y="6461125"/>
            <a:ext cx="1154850" cy="334529"/>
          </a:xfrm>
          <a:prstGeom prst="rect">
            <a:avLst/>
          </a:prstGeom>
          <a:solidFill>
            <a:srgbClr val="16181C"/>
          </a:solidFill>
          <a:ln>
            <a:solidFill>
              <a:srgbClr val="1618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35464" y="457200"/>
            <a:ext cx="6197445" cy="915591"/>
          </a:xfrm>
          <a:prstGeom prst="rect">
            <a:avLst/>
          </a:prstGeom>
          <a:noFill/>
          <a:ln/>
        </p:spPr>
        <p:txBody>
          <a:bodyPr wrap="square" lIns="0" tIns="0" rIns="0" bIns="126997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28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Что делает приложение после скачивания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435464" y="1626791"/>
            <a:ext cx="6197445" cy="2854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Каждый скачанный файл получает имя по шаблону «Исполнитель — Название».</a:t>
            </a:r>
            <a:endParaRPr lang="en-US" sz="1600" dirty="0">
              <a:latin typeface="Bahnschrift" panose="020B0502040204020203" pitchFamily="34" charset="0"/>
            </a:endParaRPr>
          </a:p>
          <a:p>
            <a:pPr marL="0" indent="0" algn="l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Теги внутри файла перезаписываются значениями из плейлиста ВКонтакте, а не тем, что был в исходном файле у сида. Это устраняет расхождения: один и тот же трек от разных пользователей может называться по-разному и иметь разные теги.</a:t>
            </a:r>
            <a:endParaRPr lang="en-US" sz="1600" dirty="0">
              <a:latin typeface="Bahnschrift" panose="020B0502040204020203" pitchFamily="34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Делается это через отдельный скрипт, который Sockseek вызывает после каждого успешного скачивания.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224092"/>
              </p:ext>
            </p:extLst>
          </p:nvPr>
        </p:nvGraphicFramePr>
        <p:xfrm>
          <a:off x="5435464" y="4607719"/>
          <a:ext cx="6197445" cy="1742238"/>
        </p:xfrm>
        <a:graphic>
          <a:graphicData uri="http://schemas.openxmlformats.org/drawingml/2006/table">
            <a:tbl>
              <a:tblPr/>
              <a:tblGrid>
                <a:gridCol w="2354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2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90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160" dirty="0">
                          <a:solidFill>
                            <a:srgbClr val="9AA3AD"/>
                          </a:solidFill>
                          <a:latin typeface="Bahnschrift" panose="020B0502040204020203" pitchFamily="34" charset="0"/>
                          <a:ea typeface="Noto Sans" pitchFamily="34" charset="-122"/>
                          <a:cs typeface="Noto Sans" pitchFamily="34" charset="-120"/>
                        </a:rPr>
                        <a:t>ФОРМАТ ИМЕНИ</a:t>
                      </a:r>
                      <a:endParaRPr lang="en-US" sz="1400" dirty="0">
                        <a:latin typeface="Bahnschrift" panose="020B0502040204020203" pitchFamily="34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EF1F4"/>
                          </a:solidFill>
                          <a:latin typeface="Bahnschrift" panose="020B0502040204020203" pitchFamily="34" charset="0"/>
                          <a:ea typeface="Noto Sans" pitchFamily="34" charset="-122"/>
                          <a:cs typeface="Noto Sans" pitchFamily="34" charset="-120"/>
                        </a:rPr>
                        <a:t>«Исполнитель — Название»</a:t>
                      </a:r>
                      <a:endParaRPr lang="en-US" sz="1400" dirty="0">
                        <a:latin typeface="Bahnschrift" panose="020B0502040204020203" pitchFamily="34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160" dirty="0">
                          <a:solidFill>
                            <a:srgbClr val="9AA3AD"/>
                          </a:solidFill>
                          <a:latin typeface="Bahnschrift" panose="020B0502040204020203" pitchFamily="34" charset="0"/>
                          <a:ea typeface="Noto Sans" pitchFamily="34" charset="-122"/>
                          <a:cs typeface="Noto Sans" pitchFamily="34" charset="-120"/>
                        </a:rPr>
                        <a:t>ИСТОЧНИК МЕТАТЕГОВ</a:t>
                      </a:r>
                      <a:endParaRPr lang="en-US" sz="1400" dirty="0">
                        <a:latin typeface="Bahnschrift" panose="020B0502040204020203" pitchFamily="34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EF1F4"/>
                          </a:solidFill>
                          <a:latin typeface="Bahnschrift" panose="020B0502040204020203" pitchFamily="34" charset="0"/>
                          <a:ea typeface="Noto Sans" pitchFamily="34" charset="-122"/>
                          <a:cs typeface="Noto Sans" pitchFamily="34" charset="-120"/>
                        </a:rPr>
                        <a:t>Плейлист ВКонтакте (ID3 перезаписывается)</a:t>
                      </a:r>
                      <a:endParaRPr lang="en-US" sz="1400" dirty="0">
                        <a:latin typeface="Bahnschrift" panose="020B0502040204020203" pitchFamily="34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3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00" spc="160" dirty="0">
                          <a:solidFill>
                            <a:srgbClr val="9AA3AD"/>
                          </a:solidFill>
                          <a:latin typeface="Bahnschrift" panose="020B0502040204020203" pitchFamily="34" charset="0"/>
                          <a:ea typeface="Noto Sans" pitchFamily="34" charset="-122"/>
                          <a:cs typeface="Noto Sans" pitchFamily="34" charset="-120"/>
                        </a:rPr>
                        <a:t>АВТОМАТИЗАЦИЯ</a:t>
                      </a:r>
                      <a:endParaRPr lang="en-US" sz="1400" dirty="0">
                        <a:latin typeface="Bahnschrift" panose="020B0502040204020203" pitchFamily="34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EF1F4"/>
                          </a:solidFill>
                          <a:latin typeface="Bahnschrift" panose="020B0502040204020203" pitchFamily="34" charset="0"/>
                          <a:ea typeface="Noto Sans" pitchFamily="34" charset="-122"/>
                          <a:cs typeface="Noto Sans" pitchFamily="34" charset="-120"/>
                        </a:rPr>
                        <a:t>Пост-процессинг скриптом Sockseek</a:t>
                      </a:r>
                      <a:endParaRPr lang="en-US" sz="1400" dirty="0">
                        <a:latin typeface="Bahnschrift" panose="020B0502040204020203" pitchFamily="34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1864777" y="6461125"/>
            <a:ext cx="32691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07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C87AA5F-35FD-B21B-464D-E5E2D154737A}"/>
              </a:ext>
            </a:extLst>
          </p:cNvPr>
          <p:cNvSpPr/>
          <p:nvPr/>
        </p:nvSpPr>
        <p:spPr>
          <a:xfrm>
            <a:off x="10963259" y="6461125"/>
            <a:ext cx="1154850" cy="334529"/>
          </a:xfrm>
          <a:prstGeom prst="rect">
            <a:avLst/>
          </a:prstGeom>
          <a:solidFill>
            <a:srgbClr val="16181C"/>
          </a:solidFill>
          <a:ln>
            <a:solidFill>
              <a:srgbClr val="1618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Bahnschrift" panose="020B0502040204020203" pitchFamily="34" charset="0"/>
            </a:endParaRPr>
          </a:p>
        </p:txBody>
      </p:sp>
      <p:pic>
        <p:nvPicPr>
          <p:cNvPr id="3074" name="Picture 2" descr="сделал шапку для соулсика : r/Soulseek">
            <a:extLst>
              <a:ext uri="{FF2B5EF4-FFF2-40B4-BE49-F238E27FC236}">
                <a16:creationId xmlns:a16="http://schemas.microsoft.com/office/drawing/2014/main" id="{37727FF1-393A-26A0-35E7-F50E15BBC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9174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074123" cy="52447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28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Что показывается в интерфейсе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235670"/>
            <a:ext cx="406390" cy="40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8371" y="1235670"/>
            <a:ext cx="104645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Журнал задач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68371" y="1724620"/>
            <a:ext cx="1046453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текущий статус, что обрабатывается прямо сейчас, сколько скачано, сколько провалилось.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86" y="2845594"/>
            <a:ext cx="406390" cy="406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371" y="2845594"/>
            <a:ext cx="104645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Список сидов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68371" y="3334544"/>
            <a:ext cx="1046453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с каждого пользователя, у которого что-то скачалось, ведётся учёт — сколько файлов от него получено. Это даёт понять, у кого может быть ещё интересующая музыка.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786" y="4750197"/>
            <a:ext cx="406390" cy="406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68371" y="4750197"/>
            <a:ext cx="104645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Окно «Soulseek»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168371" y="5239147"/>
            <a:ext cx="1046453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живая лента того, что находит и качает приложение в данный момент — имя сида, имя файла, состояние.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1864777" y="6461125"/>
            <a:ext cx="32691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08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3226E87-66D8-F189-B83F-FA66750017BE}"/>
              </a:ext>
            </a:extLst>
          </p:cNvPr>
          <p:cNvSpPr/>
          <p:nvPr/>
        </p:nvSpPr>
        <p:spPr>
          <a:xfrm>
            <a:off x="10963259" y="6461125"/>
            <a:ext cx="1154850" cy="334529"/>
          </a:xfrm>
          <a:prstGeom prst="rect">
            <a:avLst/>
          </a:prstGeom>
          <a:solidFill>
            <a:srgbClr val="16181C"/>
          </a:solidFill>
          <a:ln>
            <a:solidFill>
              <a:srgbClr val="1618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6197445" cy="52447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28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Ограничения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8786" y="1235670"/>
            <a:ext cx="6197445" cy="432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Приложение работает только с ВКонтакте. Spotify, Deezer, SoundCloud не поддерживаются: каждому из них нужен свой способ авторизации и своя обвязка, что превращает небольшой локальный инструмент в проект с постоянной поддержкой. Для этих сервисов есть отдельные инструменты для переноса плейлистов в ВКонтакте.</a:t>
            </a:r>
            <a:endParaRPr lang="en-US" sz="1600" dirty="0">
              <a:latin typeface="Bahnschrift" panose="020B0502040204020203" pitchFamily="34" charset="0"/>
            </a:endParaRPr>
          </a:p>
          <a:p>
            <a:pPr marL="0" indent="0" algn="l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Soulseek — сеть, построенная на домашних компьютерах, а не на серверах. </a:t>
            </a:r>
            <a:r>
              <a:rPr lang="ru-RU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Ч</a:t>
            </a:r>
            <a:r>
              <a:rPr lang="en-US" sz="1600" dirty="0" err="1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асть</a:t>
            </a: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 сидов работает не всегда, некоторые отказывают в подключении. Часть треков находится не с первой попытки. Приложение перебирает альтернативные источники автоматически, но полностью устранить проблему нельзя.</a:t>
            </a:r>
            <a:endParaRPr lang="en-US" sz="1600" dirty="0">
              <a:latin typeface="Bahnschrift" panose="020B0502040204020203" pitchFamily="34" charset="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В России для доступа к </a:t>
            </a:r>
            <a:r>
              <a:rPr lang="en-US" sz="1600" dirty="0" err="1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Soulseek</a:t>
            </a: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ru-RU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бывает</a:t>
            </a: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 нужен VPN. Это ограничение самой сети, а не приложения.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864777" y="6461125"/>
            <a:ext cx="32691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09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97C8C11-4E9B-A2AF-B0FB-D86399F4C363}"/>
              </a:ext>
            </a:extLst>
          </p:cNvPr>
          <p:cNvSpPr/>
          <p:nvPr/>
        </p:nvSpPr>
        <p:spPr>
          <a:xfrm>
            <a:off x="10963259" y="6461125"/>
            <a:ext cx="1154850" cy="334529"/>
          </a:xfrm>
          <a:prstGeom prst="rect">
            <a:avLst/>
          </a:prstGeom>
          <a:solidFill>
            <a:srgbClr val="16181C"/>
          </a:solidFill>
          <a:ln>
            <a:solidFill>
              <a:srgbClr val="1618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Bahnschrift" panose="020B0502040204020203" pitchFamily="34" charset="0"/>
            </a:endParaRPr>
          </a:p>
        </p:txBody>
      </p:sp>
      <p:pic>
        <p:nvPicPr>
          <p:cNvPr id="5122" name="Picture 2" descr="РКН назвал фейком информацию об обязанности операторов выявлять треш-стримы">
            <a:extLst>
              <a:ext uri="{FF2B5EF4-FFF2-40B4-BE49-F238E27FC236}">
                <a16:creationId xmlns:a16="http://schemas.microsoft.com/office/drawing/2014/main" id="{CD86C907-83A6-0B6F-EEFC-641B13C1A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695" y="1495108"/>
            <a:ext cx="533400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074123" cy="52447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28" dirty="0">
                <a:solidFill>
                  <a:srgbClr val="EEF1F4"/>
                </a:solidFill>
                <a:latin typeface="Bahnschrift" panose="020B0502040204020203" pitchFamily="34" charset="0"/>
                <a:ea typeface="Noto Sans SemiBold" pitchFamily="34" charset="-122"/>
                <a:cs typeface="Noto Sans SemiBold" pitchFamily="34" charset="-120"/>
              </a:rPr>
              <a:t>Что не делает приложение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58786" y="1235670"/>
            <a:ext cx="5384665" cy="2404765"/>
          </a:xfrm>
          <a:prstGeom prst="roundRect">
            <a:avLst>
              <a:gd name="adj" fmla="val 475"/>
            </a:avLst>
          </a:prstGeom>
          <a:noFill/>
          <a:ln w="25399">
            <a:solidFill>
              <a:srgbClr val="4E505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0" y="1464270"/>
            <a:ext cx="40639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7380" y="2019895"/>
            <a:ext cx="492747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Не хранит данные пользователя вне его компьютера.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248244" y="1235670"/>
            <a:ext cx="5384665" cy="2404765"/>
          </a:xfrm>
          <a:prstGeom prst="roundRect">
            <a:avLst>
              <a:gd name="adj" fmla="val 475"/>
            </a:avLst>
          </a:prstGeom>
          <a:noFill/>
          <a:ln w="25399">
            <a:solidFill>
              <a:srgbClr val="4E5054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838" y="1464270"/>
            <a:ext cx="406390" cy="406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76838" y="2019895"/>
            <a:ext cx="515607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Не требует регистрации в сторонних сервисах.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58786" y="3945235"/>
            <a:ext cx="5384665" cy="2404765"/>
          </a:xfrm>
          <a:prstGeom prst="roundRect">
            <a:avLst>
              <a:gd name="adj" fmla="val 475"/>
            </a:avLst>
          </a:prstGeom>
          <a:noFill/>
          <a:ln w="25399">
            <a:solidFill>
              <a:srgbClr val="4E5054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380" y="4173835"/>
            <a:ext cx="406390" cy="406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7380" y="4729460"/>
            <a:ext cx="492747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Не работает с потоковым аудио — скачивает только файлы.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6248244" y="3945235"/>
            <a:ext cx="5384665" cy="2404765"/>
          </a:xfrm>
          <a:prstGeom prst="roundRect">
            <a:avLst>
              <a:gd name="adj" fmla="val 475"/>
            </a:avLst>
          </a:prstGeom>
          <a:noFill/>
          <a:ln w="25399">
            <a:solidFill>
              <a:srgbClr val="4E5054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838" y="4173835"/>
            <a:ext cx="406390" cy="406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76837" y="4729460"/>
            <a:ext cx="4927477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Не обходит блокировки. Если </a:t>
            </a:r>
            <a:r>
              <a:rPr lang="en-US" sz="1600" dirty="0" err="1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Soulseek</a:t>
            </a: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ru-RU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или </a:t>
            </a:r>
            <a:r>
              <a:rPr lang="ru-RU" sz="1600" dirty="0" err="1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сидеры</a:t>
            </a:r>
            <a:r>
              <a:rPr lang="ru-RU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600" dirty="0" err="1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недоступ</a:t>
            </a:r>
            <a:r>
              <a:rPr lang="ru-RU" sz="1600" dirty="0" err="1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ны</a:t>
            </a:r>
            <a:r>
              <a:rPr lang="ru-RU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600" dirty="0" err="1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без</a:t>
            </a:r>
            <a:r>
              <a:rPr lang="en-US" sz="16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 VPN, приложение не поможет это обойти.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1864777" y="6461125"/>
            <a:ext cx="32691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Bahnschrift" panose="020B0502040204020203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861EC2C-23B0-12B7-C209-8F7471C7868F}"/>
              </a:ext>
            </a:extLst>
          </p:cNvPr>
          <p:cNvSpPr/>
          <p:nvPr/>
        </p:nvSpPr>
        <p:spPr>
          <a:xfrm>
            <a:off x="10963259" y="6461125"/>
            <a:ext cx="1154850" cy="334529"/>
          </a:xfrm>
          <a:prstGeom prst="rect">
            <a:avLst/>
          </a:prstGeom>
          <a:solidFill>
            <a:srgbClr val="16181C"/>
          </a:solidFill>
          <a:ln>
            <a:solidFill>
              <a:srgbClr val="1618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1075</Words>
  <Application>Microsoft Office PowerPoint</Application>
  <PresentationFormat>Широкоэкранный</PresentationFormat>
  <Paragraphs>94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Bahnschrift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alc-laptop</cp:lastModifiedBy>
  <cp:revision>4</cp:revision>
  <dcterms:created xsi:type="dcterms:W3CDTF">2026-10-06T12:21:08Z</dcterms:created>
  <dcterms:modified xsi:type="dcterms:W3CDTF">2026-10-06T13:49:06Z</dcterms:modified>
</cp:coreProperties>
</file>